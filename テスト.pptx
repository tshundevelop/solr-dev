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3"/>
    <p:restoredTop sz="91515"/>
  </p:normalViewPr>
  <p:slideViewPr>
    <p:cSldViewPr snapToGrid="0">
      <p:cViewPr varScale="1">
        <p:scale>
          <a:sx n="104" d="100"/>
          <a:sy n="104" d="100"/>
        </p:scale>
        <p:origin x="12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6364B9-A17E-EC43-893E-694CA17E00F6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A7DBE-1702-4E4E-B763-DED861A201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1158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D6194F6-55FF-51FB-B474-97DD4581957B}"/>
              </a:ext>
            </a:extLst>
          </p:cNvPr>
          <p:cNvSpPr/>
          <p:nvPr userDrawn="1"/>
        </p:nvSpPr>
        <p:spPr>
          <a:xfrm>
            <a:off x="1132114" y="1170214"/>
            <a:ext cx="9927772" cy="45175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BC6DF1F-E1B5-EE07-DF81-4602475A6F5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884364"/>
            <a:ext cx="9144000" cy="830997"/>
          </a:xfrm>
        </p:spPr>
        <p:txBody>
          <a:bodyPr anchor="t" anchorCtr="0">
            <a:spAutoFit/>
          </a:bodyPr>
          <a:lstStyle>
            <a:lvl1pPr algn="ctr">
              <a:lnSpc>
                <a:spcPct val="100000"/>
              </a:lnSpc>
              <a:defRPr sz="4800"/>
            </a:lvl1pPr>
          </a:lstStyle>
          <a:p>
            <a:r>
              <a:rPr kumimoji="1" lang="ja-JP" altLang="en-US"/>
              <a:t>マスタータイトル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F76FCD6-0FD6-397E-40E9-F4B57A360AC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85066"/>
            <a:ext cx="9144000" cy="433965"/>
          </a:xfrm>
        </p:spPr>
        <p:txBody>
          <a:bodyPr>
            <a:spAutoFit/>
          </a:bodyPr>
          <a:lstStyle>
            <a:lvl1pPr marL="0" indent="0" algn="ctr">
              <a:buNone/>
              <a:defRPr sz="2400"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105095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CC5561F-B429-2036-816F-A1A5B6BADF4C}"/>
              </a:ext>
            </a:extLst>
          </p:cNvPr>
          <p:cNvSpPr/>
          <p:nvPr userDrawn="1"/>
        </p:nvSpPr>
        <p:spPr>
          <a:xfrm>
            <a:off x="0" y="9679"/>
            <a:ext cx="12191999" cy="671358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0D8DE18-DA2B-5C60-0511-E06A650D0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829024"/>
            <a:ext cx="10515600" cy="523220"/>
          </a:xfrm>
        </p:spPr>
        <p:txBody>
          <a:bodyPr lIns="90000" anchor="t" anchorCtr="0">
            <a:spAutoFit/>
          </a:bodyPr>
          <a:lstStyle>
            <a:lvl1pPr>
              <a:lnSpc>
                <a:spcPct val="100000"/>
              </a:lnSpc>
              <a:defRPr sz="2800" b="1" u="sng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4D924F-3526-3060-BDAE-1265EE3A4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3A58-1B34-5242-BBF5-94E77ECE7E7C}" type="datetime1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3AE519-9FCE-4A4B-0008-73DC2226C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FB525F-1348-F541-93F0-5CB101D62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223043"/>
            <a:ext cx="2743200" cy="365125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1EB66D83-C0A5-A948-ACAE-1D50B2F7877E}" type="slidenum">
              <a:rPr lang="ja-JP" altLang="en-US" smtClean="0"/>
              <a:pPr/>
              <a:t>‹#›</a:t>
            </a:fld>
            <a:endParaRPr lang="ja-JP" altLang="en-US" sz="3200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ADCA3EB6-1934-70F9-6B5F-D0C1614150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141744"/>
            <a:ext cx="8077200" cy="584775"/>
          </a:xfrm>
        </p:spPr>
        <p:txBody>
          <a:bodyPr lIns="90000">
            <a:spAutoFit/>
          </a:bodyPr>
          <a:lstStyle>
            <a:lvl1pPr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3pPr>
              <a:buNone/>
              <a:defRPr/>
            </a:lvl3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D6AE4F27-E823-14A2-8B16-151BB35B38C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4671" y="1454749"/>
            <a:ext cx="11500758" cy="461665"/>
          </a:xfrm>
        </p:spPr>
        <p:txBody>
          <a:bodyPr wrap="square" lIns="90000">
            <a:spAutoFit/>
          </a:bodyPr>
          <a:lstStyle>
            <a:lvl1pPr>
              <a:lnSpc>
                <a:spcPct val="100000"/>
              </a:lnSpc>
              <a:buNone/>
              <a:defRPr sz="240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内容</a:t>
            </a:r>
          </a:p>
        </p:txBody>
      </p:sp>
    </p:spTree>
    <p:extLst>
      <p:ext uri="{BB962C8B-B14F-4D97-AF65-F5344CB8AC3E}">
        <p14:creationId xmlns:p14="http://schemas.microsoft.com/office/powerpoint/2010/main" val="2512286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0F8BCD-83DD-EADC-28EF-70D0C06E0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26996D-E265-5C29-8E84-EF2D4690E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76B6C9-EE3A-A6EE-007C-BF5A60343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2E68-3823-2A48-932A-4B1216421000}" type="datetime1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176AA3-3AF8-63B9-8474-B3DE1E6C6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1F4D2B-C892-7E35-6721-BBCA718DF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6D83-C0A5-A948-ACAE-1D50B2F787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616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2D6E2D-000A-BE06-E793-C9B0D2DA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87FE0F-6560-2FD0-8568-8D1AB243B6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63A6B87-DF93-9CB7-1828-07A77AE91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60859D-6096-5721-A6E1-C71B06FDB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D2D04-BE47-BB49-884E-58195FF34B33}" type="datetime1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2818F5-E572-98CE-F9AE-E51AB3B8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6A9A7C-09DF-2D06-C948-6EB9854E5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6D83-C0A5-A948-ACAE-1D50B2F787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4409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DE4B4C-7A10-4A62-9464-A4E0AA612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6186AC-14E0-49A3-FD75-B2E3B273C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9E0980A-E7F2-DD1D-8323-CC2978D6C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9F2972F-D613-3029-E7DF-EF362B8B1E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0F17BD6-7498-72F5-8C5D-4DCE4B5AEE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14B941A-3DBC-CDEB-8BDB-EDE0363F7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100C1-4752-3E4A-992A-198A697ABF60}" type="datetime1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C17CF7B-C535-1355-1D15-0C73C0A5C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6728FCE-4B50-063A-AE6A-47817BFFF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6D83-C0A5-A948-ACAE-1D50B2F787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6419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1ECEDC-D744-D4FF-6E82-30D960D9D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9DB57A2-00D8-820A-9070-90861F9D8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E68E7-2C3F-DC4D-A838-D534062AD5B2}" type="datetime1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A0E776C-4BE5-DD73-187C-4FF2EF6D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2C7511D-E5F0-607A-4689-443E5D459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6D83-C0A5-A948-ACAE-1D50B2F787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449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D40A9F7-7D53-A2C5-EB7C-0833AF416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35F2-C01B-9247-9423-A51363E8C189}" type="datetime1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8C8F152-0A14-8060-3772-540C80DF2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D39E3E1-C33B-BCE7-9C28-1B1B15F46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6D83-C0A5-A948-ACAE-1D50B2F787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287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BFD359-65FA-A652-D11D-83E35F6C5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45BE38-3E54-8C6D-5149-9988EAC99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9532E2-3956-89B8-B0D6-878C69CFA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F64557A-445E-57C4-925B-992EDAE15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9FC16-91C6-EA49-96B7-715391444E31}" type="datetime1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F801A8-1BD9-6C07-0C8E-69E5F812A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DAED45-3EE3-C699-C7DF-ACE7D773C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6D83-C0A5-A948-ACAE-1D50B2F787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464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98BF53-A2CF-2BEF-1C54-02BF99104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429EF34-AA55-0B7A-98C2-3E1209A02D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A39DA6B-2CCE-26FC-28E0-7AAB4E681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87C7789-13EE-BA57-D5C8-88792F1A2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CCAE8-1A54-CB48-8042-C4CEFFA415D5}" type="datetime1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FF0F980-966A-821C-7A83-825B3EBBD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9FAC05-BDF7-8FC9-2284-57BA341F3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6D83-C0A5-A948-ACAE-1D50B2F787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0909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AF5A9-4815-F5C6-E57B-962F9717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EFD16BE-2F7C-CA49-7236-CF60C79CC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753398-16F4-1AA4-80B5-F04CE4AAA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B612-4A1E-524E-993C-9A658017F88C}" type="datetime1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36881B-1934-CE39-36EB-BBEAA611C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C001E1-0E8D-DEB0-4B54-60416371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6D83-C0A5-A948-ACAE-1D50B2F787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0925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B743795-CD45-D8AB-DF9D-024138FEEF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19A76BC-CDBC-B6FE-4800-7F0003B66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4061BF-B762-79F9-3454-0C015AB63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37F0-6FBC-C24B-97C0-28380D9529A1}" type="datetime1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AFD277-854A-D082-E088-7D51D088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FAC5BF-7253-B81F-7282-8C02856F6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6D83-C0A5-A948-ACAE-1D50B2F787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4349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6DE2E02-9678-8F91-FBEA-3ED54E43B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F21886-1B0E-EA26-27E5-DDBC507EF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4C1674-DCAC-852E-C694-789E0CDD8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C931B-F1EA-9347-BFD2-08140D166B6D}" type="datetime1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A4FFEF-AD5B-77A4-135C-F56A730D5E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9FE11E-B56D-3B63-E03C-9E82C7900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B66D83-C0A5-A948-ACAE-1D50B2F787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3622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BFB3B4-18FD-70F4-3320-C7659C7D1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98003"/>
            <a:ext cx="9144000" cy="830997"/>
          </a:xfrm>
        </p:spPr>
        <p:txBody>
          <a:bodyPr/>
          <a:lstStyle/>
          <a:p>
            <a:r>
              <a:rPr kumimoji="1" lang="ja-JP" altLang="en-US"/>
              <a:t>発表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2D97AED-0A20-877B-5328-60453E96D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33248"/>
            <a:ext cx="9144000" cy="433965"/>
          </a:xfrm>
        </p:spPr>
        <p:txBody>
          <a:bodyPr/>
          <a:lstStyle/>
          <a:p>
            <a:r>
              <a:rPr kumimoji="1" lang="ja-JP" altLang="en-US"/>
              <a:t>広島市立大学　情報科学研究科知能工学専攻　１年　田中瞬</a:t>
            </a:r>
          </a:p>
        </p:txBody>
      </p:sp>
    </p:spTree>
    <p:extLst>
      <p:ext uri="{BB962C8B-B14F-4D97-AF65-F5344CB8AC3E}">
        <p14:creationId xmlns:p14="http://schemas.microsoft.com/office/powerpoint/2010/main" val="481504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B7BAED-8753-5F72-99FD-823716A06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使用データ：</a:t>
            </a:r>
            <a:r>
              <a:rPr kumimoji="1" lang="en-US" altLang="ja-JP" dirty="0"/>
              <a:t>JaQuAD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8578112-8B78-1CCB-0DF1-C5B1D70BF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6D83-C0A5-A948-ACAE-1D50B2F7877E}" type="slidenum">
              <a:rPr lang="ja-JP" altLang="en-US" smtClean="0"/>
              <a:pPr/>
              <a:t>1</a:t>
            </a:fld>
            <a:endParaRPr lang="ja-JP" altLang="en-US" sz="320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748F005-C11F-2CC3-A489-476B9C01CD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/>
              <a:t>データ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34D3C81-AC09-0F9C-419C-5864FEC708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日本語</a:t>
            </a:r>
            <a:r>
              <a:rPr lang="en-US" altLang="ja-JP" dirty="0"/>
              <a:t>QA</a:t>
            </a:r>
            <a:r>
              <a:rPr lang="ja-JP" altLang="en-US"/>
              <a:t>ベンチマークデータセットで</a:t>
            </a:r>
            <a:r>
              <a:rPr lang="en-US" altLang="ja-JP" dirty="0"/>
              <a:t>Wikipedia</a:t>
            </a:r>
            <a:r>
              <a:rPr lang="ja-JP" altLang="en-US"/>
              <a:t>の記事から収集された</a:t>
            </a:r>
            <a:endParaRPr kumimoji="1" lang="ja-JP" altLang="en-US"/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C7025F15-99F5-F4A5-BB3A-ED0167C0DF31}"/>
              </a:ext>
            </a:extLst>
          </p:cNvPr>
          <p:cNvSpPr txBox="1">
            <a:spLocks/>
          </p:cNvSpPr>
          <p:nvPr/>
        </p:nvSpPr>
        <p:spPr>
          <a:xfrm>
            <a:off x="152400" y="2018919"/>
            <a:ext cx="10515600" cy="523220"/>
          </a:xfrm>
          <a:prstGeom prst="rect">
            <a:avLst/>
          </a:prstGeom>
        </p:spPr>
        <p:txBody>
          <a:bodyPr vert="horz" lIns="9000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1" sz="2800" b="1" u="sng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j-cs"/>
              </a:defRPr>
            </a:lvl1pPr>
          </a:lstStyle>
          <a:p>
            <a:r>
              <a:rPr lang="ja-JP" altLang="en-US"/>
              <a:t>データ構造</a:t>
            </a:r>
          </a:p>
        </p:txBody>
      </p:sp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6CE709DA-8038-3FA4-2047-CDA4A7E877C3}"/>
              </a:ext>
            </a:extLst>
          </p:cNvPr>
          <p:cNvSpPr txBox="1">
            <a:spLocks/>
          </p:cNvSpPr>
          <p:nvPr/>
        </p:nvSpPr>
        <p:spPr>
          <a:xfrm>
            <a:off x="364671" y="2644644"/>
            <a:ext cx="11500758" cy="461665"/>
          </a:xfrm>
          <a:prstGeom prst="rect">
            <a:avLst/>
          </a:prstGeom>
        </p:spPr>
        <p:txBody>
          <a:bodyPr vert="horz" wrap="square" lIns="9000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日本語</a:t>
            </a:r>
            <a:r>
              <a:rPr lang="en-US" altLang="ja-JP"/>
              <a:t>QA</a:t>
            </a:r>
            <a:r>
              <a:rPr lang="ja-JP" altLang="en-US"/>
              <a:t>ベンチマークデータセットで</a:t>
            </a:r>
            <a:r>
              <a:rPr lang="en-US" altLang="ja-JP"/>
              <a:t>Wikipedia</a:t>
            </a:r>
            <a:r>
              <a:rPr lang="ja-JP" altLang="en-US"/>
              <a:t>の記事から収集された</a:t>
            </a:r>
          </a:p>
        </p:txBody>
      </p:sp>
    </p:spTree>
    <p:extLst>
      <p:ext uri="{BB962C8B-B14F-4D97-AF65-F5344CB8AC3E}">
        <p14:creationId xmlns:p14="http://schemas.microsoft.com/office/powerpoint/2010/main" val="106290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B4EAA324-BBCE-C166-178D-3602295195BB}"/>
              </a:ext>
            </a:extLst>
          </p:cNvPr>
          <p:cNvSpPr/>
          <p:nvPr/>
        </p:nvSpPr>
        <p:spPr>
          <a:xfrm>
            <a:off x="1603286" y="3429000"/>
            <a:ext cx="2437374" cy="32450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0357007-DE69-100E-DE92-6162F9C7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Coverage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FA42C74-9EF3-8E23-3778-92723121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6D83-C0A5-A948-ACAE-1D50B2F7877E}" type="slidenum">
              <a:rPr lang="ja-JP" altLang="en-US" smtClean="0"/>
              <a:pPr/>
              <a:t>2</a:t>
            </a:fld>
            <a:endParaRPr lang="ja-JP" altLang="en-US" sz="320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7E6C85A-6C26-AF0C-12DD-61524CD9F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/>
              <a:t>評価指標１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3E31E14-C020-AD71-1C1C-95C3598EEF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621" y="1352244"/>
            <a:ext cx="11500758" cy="461665"/>
          </a:xfrm>
        </p:spPr>
        <p:txBody>
          <a:bodyPr/>
          <a:lstStyle/>
          <a:p>
            <a:r>
              <a:rPr kumimoji="1" lang="ja-JP" altLang="en-US"/>
              <a:t>正解テキストが検索結果に含まれている割合を示す指標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D5FAD9F-B564-EB8E-167F-E536062F615F}"/>
              </a:ext>
            </a:extLst>
          </p:cNvPr>
          <p:cNvSpPr/>
          <p:nvPr/>
        </p:nvSpPr>
        <p:spPr>
          <a:xfrm>
            <a:off x="152401" y="829024"/>
            <a:ext cx="8077200" cy="9848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テキスト プレースホルダー 4">
                <a:extLst>
                  <a:ext uri="{FF2B5EF4-FFF2-40B4-BE49-F238E27FC236}">
                    <a16:creationId xmlns:a16="http://schemas.microsoft.com/office/drawing/2014/main" id="{E8030959-6433-B4E7-ED55-5C0C3EA0E2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57399" y="2033271"/>
                <a:ext cx="8077201" cy="461665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ja-JP" altLang="en-US"/>
                  <a:t>検索対象テキスト集合＝</a:t>
                </a:r>
                <a:r>
                  <a:rPr lang="en-US" altLang="ja-JP" dirty="0"/>
                  <a:t>{                         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ja-JP" dirty="0"/>
                  <a:t>            }</a:t>
                </a:r>
                <a:endParaRPr lang="ja-JP" altLang="en-US"/>
              </a:p>
            </p:txBody>
          </p:sp>
        </mc:Choice>
        <mc:Fallback>
          <p:sp>
            <p:nvSpPr>
              <p:cNvPr id="23" name="テキスト プレースホルダー 4">
                <a:extLst>
                  <a:ext uri="{FF2B5EF4-FFF2-40B4-BE49-F238E27FC236}">
                    <a16:creationId xmlns:a16="http://schemas.microsoft.com/office/drawing/2014/main" id="{E8030959-6433-B4E7-ED55-5C0C3EA0E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399" y="2033271"/>
                <a:ext cx="8077201" cy="461665"/>
              </a:xfrm>
              <a:prstGeom prst="rect">
                <a:avLst/>
              </a:prstGeom>
              <a:blipFill>
                <a:blip r:embed="rId2"/>
                <a:stretch>
                  <a:fillRect l="-1097" t="-8108" b="-297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角丸四角形 24">
            <a:extLst>
              <a:ext uri="{FF2B5EF4-FFF2-40B4-BE49-F238E27FC236}">
                <a16:creationId xmlns:a16="http://schemas.microsoft.com/office/drawing/2014/main" id="{946D35FA-99F2-10EE-D0F8-5F202E353D23}"/>
              </a:ext>
            </a:extLst>
          </p:cNvPr>
          <p:cNvSpPr/>
          <p:nvPr/>
        </p:nvSpPr>
        <p:spPr>
          <a:xfrm>
            <a:off x="5813853" y="2084931"/>
            <a:ext cx="1089454" cy="358346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1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6" name="角丸四角形 25">
            <a:extLst>
              <a:ext uri="{FF2B5EF4-FFF2-40B4-BE49-F238E27FC236}">
                <a16:creationId xmlns:a16="http://schemas.microsoft.com/office/drawing/2014/main" id="{3B8C8978-A968-5E0A-50BA-D5BEDC503A13}"/>
              </a:ext>
            </a:extLst>
          </p:cNvPr>
          <p:cNvSpPr/>
          <p:nvPr/>
        </p:nvSpPr>
        <p:spPr>
          <a:xfrm>
            <a:off x="7011429" y="2084931"/>
            <a:ext cx="1089454" cy="358346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2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DDEBEFB7-1B34-FBC3-60E5-C5EC4D07675A}"/>
              </a:ext>
            </a:extLst>
          </p:cNvPr>
          <p:cNvSpPr/>
          <p:nvPr/>
        </p:nvSpPr>
        <p:spPr>
          <a:xfrm>
            <a:off x="8622956" y="2084931"/>
            <a:ext cx="1089454" cy="358346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n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角丸四角形 27">
            <a:extLst>
              <a:ext uri="{FF2B5EF4-FFF2-40B4-BE49-F238E27FC236}">
                <a16:creationId xmlns:a16="http://schemas.microsoft.com/office/drawing/2014/main" id="{A4987A42-61A6-CFFC-918D-E785E0341B05}"/>
              </a:ext>
            </a:extLst>
          </p:cNvPr>
          <p:cNvSpPr/>
          <p:nvPr/>
        </p:nvSpPr>
        <p:spPr>
          <a:xfrm>
            <a:off x="2767913" y="2714298"/>
            <a:ext cx="1089454" cy="35834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Query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テキスト プレースホルダー 4">
                <a:extLst>
                  <a:ext uri="{FF2B5EF4-FFF2-40B4-BE49-F238E27FC236}">
                    <a16:creationId xmlns:a16="http://schemas.microsoft.com/office/drawing/2014/main" id="{97315D68-F06D-80EE-8BDE-8446F85E24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57366" y="2662638"/>
                <a:ext cx="6043485" cy="461665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ja-JP" altLang="en-US"/>
                  <a:t>に対する正解テキスト集合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ja-JP" dirty="0"/>
                  <a:t>={            }</a:t>
                </a:r>
                <a:endParaRPr lang="ja-JP" altLang="en-US"/>
              </a:p>
            </p:txBody>
          </p:sp>
        </mc:Choice>
        <mc:Fallback>
          <p:sp>
            <p:nvSpPr>
              <p:cNvPr id="29" name="テキスト プレースホルダー 4">
                <a:extLst>
                  <a:ext uri="{FF2B5EF4-FFF2-40B4-BE49-F238E27FC236}">
                    <a16:creationId xmlns:a16="http://schemas.microsoft.com/office/drawing/2014/main" id="{97315D68-F06D-80EE-8BDE-8446F85E2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366" y="2662638"/>
                <a:ext cx="6043485" cy="461665"/>
              </a:xfrm>
              <a:prstGeom prst="rect">
                <a:avLst/>
              </a:prstGeom>
              <a:blipFill>
                <a:blip r:embed="rId3"/>
                <a:stretch>
                  <a:fillRect l="-1468" t="-7895" b="-26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C2536EBA-2773-F4B9-C482-E8AC4EED03B1}"/>
              </a:ext>
            </a:extLst>
          </p:cNvPr>
          <p:cNvSpPr/>
          <p:nvPr/>
        </p:nvSpPr>
        <p:spPr>
          <a:xfrm>
            <a:off x="8291382" y="2714298"/>
            <a:ext cx="1089454" cy="358346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1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角丸四角形 31">
            <a:extLst>
              <a:ext uri="{FF2B5EF4-FFF2-40B4-BE49-F238E27FC236}">
                <a16:creationId xmlns:a16="http://schemas.microsoft.com/office/drawing/2014/main" id="{1B045158-9D70-2B4A-4632-196D4809839F}"/>
              </a:ext>
            </a:extLst>
          </p:cNvPr>
          <p:cNvSpPr/>
          <p:nvPr/>
        </p:nvSpPr>
        <p:spPr>
          <a:xfrm>
            <a:off x="2767913" y="4004348"/>
            <a:ext cx="1089454" cy="358346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2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65D181FE-3EAA-9C6C-9503-E4EE12BB1C1D}"/>
              </a:ext>
            </a:extLst>
          </p:cNvPr>
          <p:cNvSpPr/>
          <p:nvPr/>
        </p:nvSpPr>
        <p:spPr>
          <a:xfrm>
            <a:off x="2767912" y="4884393"/>
            <a:ext cx="1089454" cy="358346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3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" name="角丸四角形 33">
            <a:extLst>
              <a:ext uri="{FF2B5EF4-FFF2-40B4-BE49-F238E27FC236}">
                <a16:creationId xmlns:a16="http://schemas.microsoft.com/office/drawing/2014/main" id="{D5E0BF06-39CB-1E47-530E-1B68A454F1B2}"/>
              </a:ext>
            </a:extLst>
          </p:cNvPr>
          <p:cNvSpPr/>
          <p:nvPr/>
        </p:nvSpPr>
        <p:spPr>
          <a:xfrm>
            <a:off x="2767912" y="4444370"/>
            <a:ext cx="1089454" cy="358346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1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角丸四角形 34">
            <a:extLst>
              <a:ext uri="{FF2B5EF4-FFF2-40B4-BE49-F238E27FC236}">
                <a16:creationId xmlns:a16="http://schemas.microsoft.com/office/drawing/2014/main" id="{B0A32F5C-3AA2-54A3-B85B-0698BCF89552}"/>
              </a:ext>
            </a:extLst>
          </p:cNvPr>
          <p:cNvSpPr/>
          <p:nvPr/>
        </p:nvSpPr>
        <p:spPr>
          <a:xfrm>
            <a:off x="2767912" y="5324416"/>
            <a:ext cx="1089454" cy="358346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4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角丸四角形 35">
            <a:extLst>
              <a:ext uri="{FF2B5EF4-FFF2-40B4-BE49-F238E27FC236}">
                <a16:creationId xmlns:a16="http://schemas.microsoft.com/office/drawing/2014/main" id="{D0647ED9-06E6-E6A4-47E4-2B4DBF9ED29E}"/>
              </a:ext>
            </a:extLst>
          </p:cNvPr>
          <p:cNvSpPr/>
          <p:nvPr/>
        </p:nvSpPr>
        <p:spPr>
          <a:xfrm>
            <a:off x="2767912" y="5764439"/>
            <a:ext cx="1089454" cy="358346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5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テキスト プレースホルダー 4">
                <a:extLst>
                  <a:ext uri="{FF2B5EF4-FFF2-40B4-BE49-F238E27FC236}">
                    <a16:creationId xmlns:a16="http://schemas.microsoft.com/office/drawing/2014/main" id="{74CC728E-0E49-DF48-0A78-B9B6BB7538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12987" y="6212756"/>
                <a:ext cx="599304" cy="461665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37" name="テキスト プレースホルダー 4">
                <a:extLst>
                  <a:ext uri="{FF2B5EF4-FFF2-40B4-BE49-F238E27FC236}">
                    <a16:creationId xmlns:a16="http://schemas.microsoft.com/office/drawing/2014/main" id="{74CC728E-0E49-DF48-0A78-B9B6BB753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987" y="6212756"/>
                <a:ext cx="59930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テキスト プレースホルダー 4">
            <a:extLst>
              <a:ext uri="{FF2B5EF4-FFF2-40B4-BE49-F238E27FC236}">
                <a16:creationId xmlns:a16="http://schemas.microsoft.com/office/drawing/2014/main" id="{D9F00593-4C09-7465-CD59-4D6D5E93DC6B}"/>
              </a:ext>
            </a:extLst>
          </p:cNvPr>
          <p:cNvSpPr txBox="1">
            <a:spLocks/>
          </p:cNvSpPr>
          <p:nvPr/>
        </p:nvSpPr>
        <p:spPr>
          <a:xfrm>
            <a:off x="1797905" y="3952688"/>
            <a:ext cx="599304" cy="461665"/>
          </a:xfrm>
          <a:prstGeom prst="rect">
            <a:avLst/>
          </a:prstGeom>
        </p:spPr>
        <p:txBody>
          <a:bodyPr vert="horz" wrap="square" lIns="9000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dirty="0"/>
              <a:t>1</a:t>
            </a:r>
            <a:endParaRPr lang="ja-JP" altLang="en-US"/>
          </a:p>
        </p:txBody>
      </p:sp>
      <p:sp>
        <p:nvSpPr>
          <p:cNvPr id="39" name="テキスト プレースホルダー 4">
            <a:extLst>
              <a:ext uri="{FF2B5EF4-FFF2-40B4-BE49-F238E27FC236}">
                <a16:creationId xmlns:a16="http://schemas.microsoft.com/office/drawing/2014/main" id="{5F10B414-5886-154B-BD5E-7827B2762F69}"/>
              </a:ext>
            </a:extLst>
          </p:cNvPr>
          <p:cNvSpPr txBox="1">
            <a:spLocks/>
          </p:cNvSpPr>
          <p:nvPr/>
        </p:nvSpPr>
        <p:spPr>
          <a:xfrm>
            <a:off x="1797905" y="4391300"/>
            <a:ext cx="599304" cy="461665"/>
          </a:xfrm>
          <a:prstGeom prst="rect">
            <a:avLst/>
          </a:prstGeom>
        </p:spPr>
        <p:txBody>
          <a:bodyPr vert="horz" wrap="square" lIns="9000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dirty="0"/>
              <a:t>2</a:t>
            </a:r>
            <a:endParaRPr lang="ja-JP" altLang="en-US"/>
          </a:p>
        </p:txBody>
      </p:sp>
      <p:sp>
        <p:nvSpPr>
          <p:cNvPr id="40" name="テキスト プレースホルダー 4">
            <a:extLst>
              <a:ext uri="{FF2B5EF4-FFF2-40B4-BE49-F238E27FC236}">
                <a16:creationId xmlns:a16="http://schemas.microsoft.com/office/drawing/2014/main" id="{5B879AB7-153B-64F7-4D1A-0E2BE80F0D37}"/>
              </a:ext>
            </a:extLst>
          </p:cNvPr>
          <p:cNvSpPr txBox="1">
            <a:spLocks/>
          </p:cNvSpPr>
          <p:nvPr/>
        </p:nvSpPr>
        <p:spPr>
          <a:xfrm>
            <a:off x="1797905" y="4832733"/>
            <a:ext cx="599304" cy="461665"/>
          </a:xfrm>
          <a:prstGeom prst="rect">
            <a:avLst/>
          </a:prstGeom>
        </p:spPr>
        <p:txBody>
          <a:bodyPr vert="horz" wrap="square" lIns="9000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dirty="0"/>
              <a:t>3</a:t>
            </a:r>
            <a:endParaRPr lang="ja-JP" altLang="en-US"/>
          </a:p>
        </p:txBody>
      </p:sp>
      <p:sp>
        <p:nvSpPr>
          <p:cNvPr id="41" name="テキスト プレースホルダー 4">
            <a:extLst>
              <a:ext uri="{FF2B5EF4-FFF2-40B4-BE49-F238E27FC236}">
                <a16:creationId xmlns:a16="http://schemas.microsoft.com/office/drawing/2014/main" id="{CD18C60C-AEEF-5939-FE76-70BF9DD1ECBD}"/>
              </a:ext>
            </a:extLst>
          </p:cNvPr>
          <p:cNvSpPr txBox="1">
            <a:spLocks/>
          </p:cNvSpPr>
          <p:nvPr/>
        </p:nvSpPr>
        <p:spPr>
          <a:xfrm>
            <a:off x="1797905" y="5272756"/>
            <a:ext cx="599304" cy="461665"/>
          </a:xfrm>
          <a:prstGeom prst="rect">
            <a:avLst/>
          </a:prstGeom>
        </p:spPr>
        <p:txBody>
          <a:bodyPr vert="horz" wrap="square" lIns="9000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dirty="0"/>
              <a:t>4</a:t>
            </a:r>
            <a:endParaRPr lang="ja-JP" altLang="en-US"/>
          </a:p>
        </p:txBody>
      </p:sp>
      <p:sp>
        <p:nvSpPr>
          <p:cNvPr id="42" name="テキスト プレースホルダー 4">
            <a:extLst>
              <a:ext uri="{FF2B5EF4-FFF2-40B4-BE49-F238E27FC236}">
                <a16:creationId xmlns:a16="http://schemas.microsoft.com/office/drawing/2014/main" id="{F998E733-8A5B-874F-D5FD-DFAAF68F7035}"/>
              </a:ext>
            </a:extLst>
          </p:cNvPr>
          <p:cNvSpPr txBox="1">
            <a:spLocks/>
          </p:cNvSpPr>
          <p:nvPr/>
        </p:nvSpPr>
        <p:spPr>
          <a:xfrm>
            <a:off x="1797905" y="5710559"/>
            <a:ext cx="599304" cy="461665"/>
          </a:xfrm>
          <a:prstGeom prst="rect">
            <a:avLst/>
          </a:prstGeom>
        </p:spPr>
        <p:txBody>
          <a:bodyPr vert="horz" wrap="square" lIns="9000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dirty="0"/>
              <a:t>5</a:t>
            </a:r>
            <a:endParaRPr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テキスト プレースホルダー 4">
                <a:extLst>
                  <a:ext uri="{FF2B5EF4-FFF2-40B4-BE49-F238E27FC236}">
                    <a16:creationId xmlns:a16="http://schemas.microsoft.com/office/drawing/2014/main" id="{235888D2-ECD4-88A3-D6F4-466DE3C4A8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02023" y="6212366"/>
                <a:ext cx="599304" cy="461665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43" name="テキスト プレースホルダー 4">
                <a:extLst>
                  <a:ext uri="{FF2B5EF4-FFF2-40B4-BE49-F238E27FC236}">
                    <a16:creationId xmlns:a16="http://schemas.microsoft.com/office/drawing/2014/main" id="{235888D2-ECD4-88A3-D6F4-466DE3C4A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023" y="6212366"/>
                <a:ext cx="59930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テキスト プレースホルダー 4">
                <a:extLst>
                  <a:ext uri="{FF2B5EF4-FFF2-40B4-BE49-F238E27FC236}">
                    <a16:creationId xmlns:a16="http://schemas.microsoft.com/office/drawing/2014/main" id="{244DB478-AF9D-B377-4649-25FC92F4BC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7346" y="3509844"/>
                <a:ext cx="2329253" cy="461665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ja-JP" altLang="en-US"/>
                  <a:t>検索結果集合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ja-JP" altLang="en-US"/>
              </a:p>
            </p:txBody>
          </p:sp>
        </mc:Choice>
        <mc:Fallback>
          <p:sp>
            <p:nvSpPr>
              <p:cNvPr id="44" name="テキスト プレースホルダー 4">
                <a:extLst>
                  <a:ext uri="{FF2B5EF4-FFF2-40B4-BE49-F238E27FC236}">
                    <a16:creationId xmlns:a16="http://schemas.microsoft.com/office/drawing/2014/main" id="{244DB478-AF9D-B377-4649-25FC92F4B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346" y="3509844"/>
                <a:ext cx="2329253" cy="461665"/>
              </a:xfrm>
              <a:prstGeom prst="rect">
                <a:avLst/>
              </a:prstGeom>
              <a:blipFill>
                <a:blip r:embed="rId6"/>
                <a:stretch>
                  <a:fillRect l="-1630" t="-8108" b="-297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右矢印 45">
            <a:extLst>
              <a:ext uri="{FF2B5EF4-FFF2-40B4-BE49-F238E27FC236}">
                <a16:creationId xmlns:a16="http://schemas.microsoft.com/office/drawing/2014/main" id="{D934E901-71E4-1D40-450E-3046115995FD}"/>
              </a:ext>
            </a:extLst>
          </p:cNvPr>
          <p:cNvSpPr/>
          <p:nvPr/>
        </p:nvSpPr>
        <p:spPr>
          <a:xfrm>
            <a:off x="4670854" y="4726203"/>
            <a:ext cx="739346" cy="6506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テキスト プレースホルダー 4">
                <a:extLst>
                  <a:ext uri="{FF2B5EF4-FFF2-40B4-BE49-F238E27FC236}">
                    <a16:creationId xmlns:a16="http://schemas.microsoft.com/office/drawing/2014/main" id="{E65B3ACD-F982-EDD8-F7AD-9F4E30721B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87063" y="4131861"/>
                <a:ext cx="3871786" cy="461665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𝐶𝑜𝑣𝑒𝑟𝑎𝑔𝑒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                   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47" name="テキスト プレースホルダー 4">
                <a:extLst>
                  <a:ext uri="{FF2B5EF4-FFF2-40B4-BE49-F238E27FC236}">
                    <a16:creationId xmlns:a16="http://schemas.microsoft.com/office/drawing/2014/main" id="{E65B3ACD-F982-EDD8-F7AD-9F4E30721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063" y="4131861"/>
                <a:ext cx="3871786" cy="461665"/>
              </a:xfrm>
              <a:prstGeom prst="rect">
                <a:avLst/>
              </a:prstGeom>
              <a:blipFill>
                <a:blip r:embed="rId7"/>
                <a:stretch>
                  <a:fillRect l="-1307" t="-2703" b="-162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角丸四角形 47">
            <a:extLst>
              <a:ext uri="{FF2B5EF4-FFF2-40B4-BE49-F238E27FC236}">
                <a16:creationId xmlns:a16="http://schemas.microsoft.com/office/drawing/2014/main" id="{08F3F318-3807-07D6-7901-8A17531935F7}"/>
              </a:ext>
            </a:extLst>
          </p:cNvPr>
          <p:cNvSpPr/>
          <p:nvPr/>
        </p:nvSpPr>
        <p:spPr>
          <a:xfrm>
            <a:off x="8300652" y="4183520"/>
            <a:ext cx="1089454" cy="35834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Query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テキスト プレースホルダー 4">
                <a:extLst>
                  <a:ext uri="{FF2B5EF4-FFF2-40B4-BE49-F238E27FC236}">
                    <a16:creationId xmlns:a16="http://schemas.microsoft.com/office/drawing/2014/main" id="{74B9584F-5ADD-02BD-0668-F3CA18922C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46937" y="5262254"/>
                <a:ext cx="5799442" cy="916148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𝐶𝑜𝑣𝑒𝑟𝑎𝑔𝑒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                   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⊂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0  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51" name="テキスト プレースホルダー 4">
                <a:extLst>
                  <a:ext uri="{FF2B5EF4-FFF2-40B4-BE49-F238E27FC236}">
                    <a16:creationId xmlns:a16="http://schemas.microsoft.com/office/drawing/2014/main" id="{74B9584F-5ADD-02BD-0668-F3CA18922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937" y="5262254"/>
                <a:ext cx="5799442" cy="916148"/>
              </a:xfrm>
              <a:prstGeom prst="rect">
                <a:avLst/>
              </a:prstGeom>
              <a:blipFill>
                <a:blip r:embed="rId8"/>
                <a:stretch>
                  <a:fillRect l="-875" t="-198630" b="-2876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角丸四角形 51">
            <a:extLst>
              <a:ext uri="{FF2B5EF4-FFF2-40B4-BE49-F238E27FC236}">
                <a16:creationId xmlns:a16="http://schemas.microsoft.com/office/drawing/2014/main" id="{66DA16C8-C811-77BB-A7F7-0F25E3B2CE1F}"/>
              </a:ext>
            </a:extLst>
          </p:cNvPr>
          <p:cNvSpPr/>
          <p:nvPr/>
        </p:nvSpPr>
        <p:spPr>
          <a:xfrm>
            <a:off x="7648171" y="5541155"/>
            <a:ext cx="1089454" cy="35834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Query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2985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EC3E5-99A7-2BFA-9E8B-9F0422C81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4BDA58AE-6D8A-C176-DCC5-03DAE93CE7CB}"/>
              </a:ext>
            </a:extLst>
          </p:cNvPr>
          <p:cNvSpPr/>
          <p:nvPr/>
        </p:nvSpPr>
        <p:spPr>
          <a:xfrm>
            <a:off x="1603286" y="3429000"/>
            <a:ext cx="2437374" cy="32450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8FD2FA4-E498-19C4-A5D8-BF7A100DE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MRR (Mean Reciprocal Rank)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561BC4F-3B4D-2B62-CAD2-6500090CD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6D83-C0A5-A948-ACAE-1D50B2F7877E}" type="slidenum">
              <a:rPr lang="ja-JP" altLang="en-US" smtClean="0"/>
              <a:pPr/>
              <a:t>3</a:t>
            </a:fld>
            <a:endParaRPr lang="ja-JP" altLang="en-US" sz="320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A4E0BF1-B116-7642-AC76-9EB0908427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/>
              <a:t>評価指標</a:t>
            </a:r>
            <a:r>
              <a:rPr lang="ja-JP" altLang="en-US"/>
              <a:t>２</a:t>
            </a:r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26B868F-8A86-235B-0A4E-D4218D548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621" y="1352244"/>
            <a:ext cx="11500758" cy="461665"/>
          </a:xfrm>
        </p:spPr>
        <p:txBody>
          <a:bodyPr/>
          <a:lstStyle/>
          <a:p>
            <a:r>
              <a:rPr lang="ja-JP" altLang="en-US"/>
              <a:t>単一正解テキストが検索結果にどれだけ上位にあるか示す指標</a:t>
            </a:r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2656188-6A90-1D05-8D6D-371B6EFA1AD1}"/>
              </a:ext>
            </a:extLst>
          </p:cNvPr>
          <p:cNvSpPr/>
          <p:nvPr/>
        </p:nvSpPr>
        <p:spPr>
          <a:xfrm>
            <a:off x="152400" y="829024"/>
            <a:ext cx="8954529" cy="9848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テキスト プレースホルダー 4">
                <a:extLst>
                  <a:ext uri="{FF2B5EF4-FFF2-40B4-BE49-F238E27FC236}">
                    <a16:creationId xmlns:a16="http://schemas.microsoft.com/office/drawing/2014/main" id="{4C121D47-B1F4-54BF-612A-DDFB9C71C7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57399" y="2033271"/>
                <a:ext cx="8077201" cy="461665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ja-JP" altLang="en-US"/>
                  <a:t>検索対象テキスト集合＝</a:t>
                </a:r>
                <a:r>
                  <a:rPr lang="en-US" altLang="ja-JP" dirty="0"/>
                  <a:t>{                         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ja-JP" dirty="0"/>
                  <a:t>            }</a:t>
                </a:r>
                <a:endParaRPr lang="ja-JP" altLang="en-US"/>
              </a:p>
            </p:txBody>
          </p:sp>
        </mc:Choice>
        <mc:Fallback>
          <p:sp>
            <p:nvSpPr>
              <p:cNvPr id="23" name="テキスト プレースホルダー 4">
                <a:extLst>
                  <a:ext uri="{FF2B5EF4-FFF2-40B4-BE49-F238E27FC236}">
                    <a16:creationId xmlns:a16="http://schemas.microsoft.com/office/drawing/2014/main" id="{4C121D47-B1F4-54BF-612A-DDFB9C71C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399" y="2033271"/>
                <a:ext cx="8077201" cy="461665"/>
              </a:xfrm>
              <a:prstGeom prst="rect">
                <a:avLst/>
              </a:prstGeom>
              <a:blipFill>
                <a:blip r:embed="rId2"/>
                <a:stretch>
                  <a:fillRect l="-1097" t="-8108" b="-297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角丸四角形 24">
            <a:extLst>
              <a:ext uri="{FF2B5EF4-FFF2-40B4-BE49-F238E27FC236}">
                <a16:creationId xmlns:a16="http://schemas.microsoft.com/office/drawing/2014/main" id="{65F1FDF3-85B3-7926-1CD7-65BC090F9896}"/>
              </a:ext>
            </a:extLst>
          </p:cNvPr>
          <p:cNvSpPr/>
          <p:nvPr/>
        </p:nvSpPr>
        <p:spPr>
          <a:xfrm>
            <a:off x="5813853" y="2084931"/>
            <a:ext cx="1089454" cy="358346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1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6" name="角丸四角形 25">
            <a:extLst>
              <a:ext uri="{FF2B5EF4-FFF2-40B4-BE49-F238E27FC236}">
                <a16:creationId xmlns:a16="http://schemas.microsoft.com/office/drawing/2014/main" id="{BFFFD3D9-F9C9-C2F5-57E1-2D4678195091}"/>
              </a:ext>
            </a:extLst>
          </p:cNvPr>
          <p:cNvSpPr/>
          <p:nvPr/>
        </p:nvSpPr>
        <p:spPr>
          <a:xfrm>
            <a:off x="7011429" y="2084931"/>
            <a:ext cx="1089454" cy="358346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2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99607BAE-513A-F6D5-3830-B5A4518E601C}"/>
              </a:ext>
            </a:extLst>
          </p:cNvPr>
          <p:cNvSpPr/>
          <p:nvPr/>
        </p:nvSpPr>
        <p:spPr>
          <a:xfrm>
            <a:off x="8622956" y="2084931"/>
            <a:ext cx="1089454" cy="358346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n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角丸四角形 27">
            <a:extLst>
              <a:ext uri="{FF2B5EF4-FFF2-40B4-BE49-F238E27FC236}">
                <a16:creationId xmlns:a16="http://schemas.microsoft.com/office/drawing/2014/main" id="{60D3F4AF-E05B-CA4A-86F7-E89411CC35BE}"/>
              </a:ext>
            </a:extLst>
          </p:cNvPr>
          <p:cNvSpPr/>
          <p:nvPr/>
        </p:nvSpPr>
        <p:spPr>
          <a:xfrm>
            <a:off x="2767913" y="2714298"/>
            <a:ext cx="1089454" cy="35834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Query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テキスト プレースホルダー 4">
                <a:extLst>
                  <a:ext uri="{FF2B5EF4-FFF2-40B4-BE49-F238E27FC236}">
                    <a16:creationId xmlns:a16="http://schemas.microsoft.com/office/drawing/2014/main" id="{F2A875F5-9DDB-4380-3EF3-4A1798A5AE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57366" y="2662638"/>
                <a:ext cx="6043485" cy="461665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ja-JP" altLang="en-US"/>
                  <a:t>に対する正解テキスト集合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ja-JP" dirty="0"/>
                  <a:t>={            }</a:t>
                </a:r>
                <a:endParaRPr lang="ja-JP" altLang="en-US"/>
              </a:p>
            </p:txBody>
          </p:sp>
        </mc:Choice>
        <mc:Fallback>
          <p:sp>
            <p:nvSpPr>
              <p:cNvPr id="29" name="テキスト プレースホルダー 4">
                <a:extLst>
                  <a:ext uri="{FF2B5EF4-FFF2-40B4-BE49-F238E27FC236}">
                    <a16:creationId xmlns:a16="http://schemas.microsoft.com/office/drawing/2014/main" id="{F2A875F5-9DDB-4380-3EF3-4A1798A5A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366" y="2662638"/>
                <a:ext cx="6043485" cy="461665"/>
              </a:xfrm>
              <a:prstGeom prst="rect">
                <a:avLst/>
              </a:prstGeom>
              <a:blipFill>
                <a:blip r:embed="rId3"/>
                <a:stretch>
                  <a:fillRect l="-1468" t="-7895" b="-26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39CBF4F4-92EA-BA56-A486-EA54D494F23E}"/>
              </a:ext>
            </a:extLst>
          </p:cNvPr>
          <p:cNvSpPr/>
          <p:nvPr/>
        </p:nvSpPr>
        <p:spPr>
          <a:xfrm>
            <a:off x="8291382" y="2714298"/>
            <a:ext cx="1089454" cy="358346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1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角丸四角形 31">
            <a:extLst>
              <a:ext uri="{FF2B5EF4-FFF2-40B4-BE49-F238E27FC236}">
                <a16:creationId xmlns:a16="http://schemas.microsoft.com/office/drawing/2014/main" id="{BE76F98F-BAAC-BB2A-034C-0AD906298763}"/>
              </a:ext>
            </a:extLst>
          </p:cNvPr>
          <p:cNvSpPr/>
          <p:nvPr/>
        </p:nvSpPr>
        <p:spPr>
          <a:xfrm>
            <a:off x="2767913" y="4004348"/>
            <a:ext cx="1089454" cy="358346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2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6475DFCF-0105-630F-F6C7-05590C2D21B5}"/>
              </a:ext>
            </a:extLst>
          </p:cNvPr>
          <p:cNvSpPr/>
          <p:nvPr/>
        </p:nvSpPr>
        <p:spPr>
          <a:xfrm>
            <a:off x="2767912" y="4884393"/>
            <a:ext cx="1089454" cy="358346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3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" name="角丸四角形 33">
            <a:extLst>
              <a:ext uri="{FF2B5EF4-FFF2-40B4-BE49-F238E27FC236}">
                <a16:creationId xmlns:a16="http://schemas.microsoft.com/office/drawing/2014/main" id="{F0C40413-779F-6186-FF2A-B82D7264F628}"/>
              </a:ext>
            </a:extLst>
          </p:cNvPr>
          <p:cNvSpPr/>
          <p:nvPr/>
        </p:nvSpPr>
        <p:spPr>
          <a:xfrm>
            <a:off x="2767912" y="4444370"/>
            <a:ext cx="1089454" cy="358346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1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角丸四角形 34">
            <a:extLst>
              <a:ext uri="{FF2B5EF4-FFF2-40B4-BE49-F238E27FC236}">
                <a16:creationId xmlns:a16="http://schemas.microsoft.com/office/drawing/2014/main" id="{F2EF0E4E-27FF-4D9D-8862-BF9C31C2E50E}"/>
              </a:ext>
            </a:extLst>
          </p:cNvPr>
          <p:cNvSpPr/>
          <p:nvPr/>
        </p:nvSpPr>
        <p:spPr>
          <a:xfrm>
            <a:off x="2767912" y="5324416"/>
            <a:ext cx="1089454" cy="358346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4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角丸四角形 35">
            <a:extLst>
              <a:ext uri="{FF2B5EF4-FFF2-40B4-BE49-F238E27FC236}">
                <a16:creationId xmlns:a16="http://schemas.microsoft.com/office/drawing/2014/main" id="{465D678B-4CD2-D3AB-C304-DBD73F1A383F}"/>
              </a:ext>
            </a:extLst>
          </p:cNvPr>
          <p:cNvSpPr/>
          <p:nvPr/>
        </p:nvSpPr>
        <p:spPr>
          <a:xfrm>
            <a:off x="2767912" y="5764439"/>
            <a:ext cx="1089454" cy="358346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5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テキスト プレースホルダー 4">
                <a:extLst>
                  <a:ext uri="{FF2B5EF4-FFF2-40B4-BE49-F238E27FC236}">
                    <a16:creationId xmlns:a16="http://schemas.microsoft.com/office/drawing/2014/main" id="{3124717F-873C-EEE7-96FC-440F3436D9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12987" y="6212756"/>
                <a:ext cx="599304" cy="461665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37" name="テキスト プレースホルダー 4">
                <a:extLst>
                  <a:ext uri="{FF2B5EF4-FFF2-40B4-BE49-F238E27FC236}">
                    <a16:creationId xmlns:a16="http://schemas.microsoft.com/office/drawing/2014/main" id="{3124717F-873C-EEE7-96FC-440F3436D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987" y="6212756"/>
                <a:ext cx="59930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テキスト プレースホルダー 4">
            <a:extLst>
              <a:ext uri="{FF2B5EF4-FFF2-40B4-BE49-F238E27FC236}">
                <a16:creationId xmlns:a16="http://schemas.microsoft.com/office/drawing/2014/main" id="{945A18AB-A651-D1FE-FF35-9B57F5967EB8}"/>
              </a:ext>
            </a:extLst>
          </p:cNvPr>
          <p:cNvSpPr txBox="1">
            <a:spLocks/>
          </p:cNvSpPr>
          <p:nvPr/>
        </p:nvSpPr>
        <p:spPr>
          <a:xfrm>
            <a:off x="1797905" y="3952688"/>
            <a:ext cx="599304" cy="461665"/>
          </a:xfrm>
          <a:prstGeom prst="rect">
            <a:avLst/>
          </a:prstGeom>
        </p:spPr>
        <p:txBody>
          <a:bodyPr vert="horz" wrap="square" lIns="9000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dirty="0"/>
              <a:t>1</a:t>
            </a:r>
            <a:endParaRPr lang="ja-JP" altLang="en-US"/>
          </a:p>
        </p:txBody>
      </p:sp>
      <p:sp>
        <p:nvSpPr>
          <p:cNvPr id="39" name="テキスト プレースホルダー 4">
            <a:extLst>
              <a:ext uri="{FF2B5EF4-FFF2-40B4-BE49-F238E27FC236}">
                <a16:creationId xmlns:a16="http://schemas.microsoft.com/office/drawing/2014/main" id="{25A21A65-48E9-36A0-7EEE-430122F2CD45}"/>
              </a:ext>
            </a:extLst>
          </p:cNvPr>
          <p:cNvSpPr txBox="1">
            <a:spLocks/>
          </p:cNvSpPr>
          <p:nvPr/>
        </p:nvSpPr>
        <p:spPr>
          <a:xfrm>
            <a:off x="1797905" y="4391300"/>
            <a:ext cx="599304" cy="461665"/>
          </a:xfrm>
          <a:prstGeom prst="rect">
            <a:avLst/>
          </a:prstGeom>
        </p:spPr>
        <p:txBody>
          <a:bodyPr vert="horz" wrap="square" lIns="9000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dirty="0"/>
              <a:t>2</a:t>
            </a:r>
            <a:endParaRPr lang="ja-JP" altLang="en-US"/>
          </a:p>
        </p:txBody>
      </p:sp>
      <p:sp>
        <p:nvSpPr>
          <p:cNvPr id="40" name="テキスト プレースホルダー 4">
            <a:extLst>
              <a:ext uri="{FF2B5EF4-FFF2-40B4-BE49-F238E27FC236}">
                <a16:creationId xmlns:a16="http://schemas.microsoft.com/office/drawing/2014/main" id="{772908CD-8421-FCB0-CD01-2C133AF282C9}"/>
              </a:ext>
            </a:extLst>
          </p:cNvPr>
          <p:cNvSpPr txBox="1">
            <a:spLocks/>
          </p:cNvSpPr>
          <p:nvPr/>
        </p:nvSpPr>
        <p:spPr>
          <a:xfrm>
            <a:off x="1797905" y="4832733"/>
            <a:ext cx="599304" cy="461665"/>
          </a:xfrm>
          <a:prstGeom prst="rect">
            <a:avLst/>
          </a:prstGeom>
        </p:spPr>
        <p:txBody>
          <a:bodyPr vert="horz" wrap="square" lIns="9000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dirty="0"/>
              <a:t>3</a:t>
            </a:r>
            <a:endParaRPr lang="ja-JP" altLang="en-US"/>
          </a:p>
        </p:txBody>
      </p:sp>
      <p:sp>
        <p:nvSpPr>
          <p:cNvPr id="41" name="テキスト プレースホルダー 4">
            <a:extLst>
              <a:ext uri="{FF2B5EF4-FFF2-40B4-BE49-F238E27FC236}">
                <a16:creationId xmlns:a16="http://schemas.microsoft.com/office/drawing/2014/main" id="{6A41A589-2FDD-A3A3-9933-CC431BB20EC3}"/>
              </a:ext>
            </a:extLst>
          </p:cNvPr>
          <p:cNvSpPr txBox="1">
            <a:spLocks/>
          </p:cNvSpPr>
          <p:nvPr/>
        </p:nvSpPr>
        <p:spPr>
          <a:xfrm>
            <a:off x="1797905" y="5272756"/>
            <a:ext cx="599304" cy="461665"/>
          </a:xfrm>
          <a:prstGeom prst="rect">
            <a:avLst/>
          </a:prstGeom>
        </p:spPr>
        <p:txBody>
          <a:bodyPr vert="horz" wrap="square" lIns="9000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dirty="0"/>
              <a:t>4</a:t>
            </a:r>
            <a:endParaRPr lang="ja-JP" altLang="en-US"/>
          </a:p>
        </p:txBody>
      </p:sp>
      <p:sp>
        <p:nvSpPr>
          <p:cNvPr id="42" name="テキスト プレースホルダー 4">
            <a:extLst>
              <a:ext uri="{FF2B5EF4-FFF2-40B4-BE49-F238E27FC236}">
                <a16:creationId xmlns:a16="http://schemas.microsoft.com/office/drawing/2014/main" id="{FD8B05BF-E452-C082-6402-EE3F9BEA48D2}"/>
              </a:ext>
            </a:extLst>
          </p:cNvPr>
          <p:cNvSpPr txBox="1">
            <a:spLocks/>
          </p:cNvSpPr>
          <p:nvPr/>
        </p:nvSpPr>
        <p:spPr>
          <a:xfrm>
            <a:off x="1797905" y="5710559"/>
            <a:ext cx="599304" cy="461665"/>
          </a:xfrm>
          <a:prstGeom prst="rect">
            <a:avLst/>
          </a:prstGeom>
        </p:spPr>
        <p:txBody>
          <a:bodyPr vert="horz" wrap="square" lIns="9000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dirty="0"/>
              <a:t>5</a:t>
            </a:r>
            <a:endParaRPr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テキスト プレースホルダー 4">
                <a:extLst>
                  <a:ext uri="{FF2B5EF4-FFF2-40B4-BE49-F238E27FC236}">
                    <a16:creationId xmlns:a16="http://schemas.microsoft.com/office/drawing/2014/main" id="{035CAB36-9194-0893-FF14-D95F471BD4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02023" y="6212366"/>
                <a:ext cx="599304" cy="461665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43" name="テキスト プレースホルダー 4">
                <a:extLst>
                  <a:ext uri="{FF2B5EF4-FFF2-40B4-BE49-F238E27FC236}">
                    <a16:creationId xmlns:a16="http://schemas.microsoft.com/office/drawing/2014/main" id="{035CAB36-9194-0893-FF14-D95F471BD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023" y="6212366"/>
                <a:ext cx="59930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テキスト プレースホルダー 4">
                <a:extLst>
                  <a:ext uri="{FF2B5EF4-FFF2-40B4-BE49-F238E27FC236}">
                    <a16:creationId xmlns:a16="http://schemas.microsoft.com/office/drawing/2014/main" id="{61D410A8-AE52-8709-B32F-606DB8C931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7346" y="3509844"/>
                <a:ext cx="2329253" cy="461665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ja-JP" altLang="en-US"/>
                  <a:t>検索結果集合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ja-JP" altLang="en-US"/>
              </a:p>
            </p:txBody>
          </p:sp>
        </mc:Choice>
        <mc:Fallback>
          <p:sp>
            <p:nvSpPr>
              <p:cNvPr id="44" name="テキスト プレースホルダー 4">
                <a:extLst>
                  <a:ext uri="{FF2B5EF4-FFF2-40B4-BE49-F238E27FC236}">
                    <a16:creationId xmlns:a16="http://schemas.microsoft.com/office/drawing/2014/main" id="{61D410A8-AE52-8709-B32F-606DB8C93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346" y="3509844"/>
                <a:ext cx="2329253" cy="461665"/>
              </a:xfrm>
              <a:prstGeom prst="rect">
                <a:avLst/>
              </a:prstGeom>
              <a:blipFill>
                <a:blip r:embed="rId6"/>
                <a:stretch>
                  <a:fillRect l="-1630" t="-8108" b="-297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右矢印 45">
            <a:extLst>
              <a:ext uri="{FF2B5EF4-FFF2-40B4-BE49-F238E27FC236}">
                <a16:creationId xmlns:a16="http://schemas.microsoft.com/office/drawing/2014/main" id="{5A402B3F-7676-831D-A293-110525927983}"/>
              </a:ext>
            </a:extLst>
          </p:cNvPr>
          <p:cNvSpPr/>
          <p:nvPr/>
        </p:nvSpPr>
        <p:spPr>
          <a:xfrm>
            <a:off x="4670854" y="4726203"/>
            <a:ext cx="739346" cy="6506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テキスト プレースホルダー 4">
                <a:extLst>
                  <a:ext uri="{FF2B5EF4-FFF2-40B4-BE49-F238E27FC236}">
                    <a16:creationId xmlns:a16="http://schemas.microsoft.com/office/drawing/2014/main" id="{C84107BD-C33C-8C60-CAE5-4008AE3CA2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42008" y="3630549"/>
                <a:ext cx="3871786" cy="783804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𝑀𝑅𝑅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                   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47" name="テキスト プレースホルダー 4">
                <a:extLst>
                  <a:ext uri="{FF2B5EF4-FFF2-40B4-BE49-F238E27FC236}">
                    <a16:creationId xmlns:a16="http://schemas.microsoft.com/office/drawing/2014/main" id="{C84107BD-C33C-8C60-CAE5-4008AE3CA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2008" y="3630549"/>
                <a:ext cx="3871786" cy="783804"/>
              </a:xfrm>
              <a:prstGeom prst="rect">
                <a:avLst/>
              </a:prstGeom>
              <a:blipFill>
                <a:blip r:embed="rId7"/>
                <a:stretch>
                  <a:fillRect l="-327" b="-64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角丸四角形 47">
            <a:extLst>
              <a:ext uri="{FF2B5EF4-FFF2-40B4-BE49-F238E27FC236}">
                <a16:creationId xmlns:a16="http://schemas.microsoft.com/office/drawing/2014/main" id="{860E658C-45F4-ABB5-7053-39FEEF5B432D}"/>
              </a:ext>
            </a:extLst>
          </p:cNvPr>
          <p:cNvSpPr/>
          <p:nvPr/>
        </p:nvSpPr>
        <p:spPr>
          <a:xfrm>
            <a:off x="7703116" y="3868318"/>
            <a:ext cx="1089454" cy="35834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Query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テキスト プレースホルダー 4">
                <a:extLst>
                  <a:ext uri="{FF2B5EF4-FFF2-40B4-BE49-F238E27FC236}">
                    <a16:creationId xmlns:a16="http://schemas.microsoft.com/office/drawing/2014/main" id="{BCDEBE17-797A-12A6-65F6-CEA28847E7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92849" y="4959555"/>
                <a:ext cx="5799442" cy="1271438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𝑀𝑅𝑅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                   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𝑟𝑎𝑛𝑘</m:t>
                                  </m:r>
                                </m:den>
                              </m:f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⊂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0  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51" name="テキスト プレースホルダー 4">
                <a:extLst>
                  <a:ext uri="{FF2B5EF4-FFF2-40B4-BE49-F238E27FC236}">
                    <a16:creationId xmlns:a16="http://schemas.microsoft.com/office/drawing/2014/main" id="{BCDEBE17-797A-12A6-65F6-CEA28847E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49" y="4959555"/>
                <a:ext cx="5799442" cy="1271438"/>
              </a:xfrm>
              <a:prstGeom prst="rect">
                <a:avLst/>
              </a:prstGeom>
              <a:blipFill>
                <a:blip r:embed="rId8"/>
                <a:stretch>
                  <a:fillRect l="-438" t="-209901" b="-3009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角丸四角形 51">
            <a:extLst>
              <a:ext uri="{FF2B5EF4-FFF2-40B4-BE49-F238E27FC236}">
                <a16:creationId xmlns:a16="http://schemas.microsoft.com/office/drawing/2014/main" id="{0EB1F3CE-25F1-501E-7756-B01AE6EA828D}"/>
              </a:ext>
            </a:extLst>
          </p:cNvPr>
          <p:cNvSpPr/>
          <p:nvPr/>
        </p:nvSpPr>
        <p:spPr>
          <a:xfrm>
            <a:off x="6857341" y="5407860"/>
            <a:ext cx="1089454" cy="35834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Query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72424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14ED2-1B2E-CC8D-1E00-8B9045A19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19B98370-082C-E5C3-E7D9-FF9FC30DD3F9}"/>
              </a:ext>
            </a:extLst>
          </p:cNvPr>
          <p:cNvSpPr/>
          <p:nvPr/>
        </p:nvSpPr>
        <p:spPr>
          <a:xfrm>
            <a:off x="1603286" y="3429000"/>
            <a:ext cx="2437374" cy="32450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95BCD97-012C-996B-A0B1-E7D8F5222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LRAP (Label Ranking Average Precision)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2FFA141-523C-4954-802A-A81155687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66D83-C0A5-A948-ACAE-1D50B2F7877E}" type="slidenum">
              <a:rPr lang="ja-JP" altLang="en-US" smtClean="0"/>
              <a:pPr/>
              <a:t>4</a:t>
            </a:fld>
            <a:endParaRPr lang="ja-JP" altLang="en-US" sz="320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759C66-CC72-8839-12E1-207062A4A5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/>
              <a:t>評価指標３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75F802F-7249-8F52-AB32-D9AB95CADB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621" y="1352244"/>
            <a:ext cx="11500758" cy="461665"/>
          </a:xfrm>
        </p:spPr>
        <p:txBody>
          <a:bodyPr/>
          <a:lstStyle/>
          <a:p>
            <a:r>
              <a:rPr kumimoji="1" lang="ja-JP" altLang="en-US"/>
              <a:t>正解テキスト群が検索結果のどれだけ上位にあるか示す指標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DF84152-BEDD-9BE0-D2D0-6DBD41FB640D}"/>
              </a:ext>
            </a:extLst>
          </p:cNvPr>
          <p:cNvSpPr/>
          <p:nvPr/>
        </p:nvSpPr>
        <p:spPr>
          <a:xfrm>
            <a:off x="152400" y="829024"/>
            <a:ext cx="8954529" cy="9848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テキスト プレースホルダー 4">
                <a:extLst>
                  <a:ext uri="{FF2B5EF4-FFF2-40B4-BE49-F238E27FC236}">
                    <a16:creationId xmlns:a16="http://schemas.microsoft.com/office/drawing/2014/main" id="{D0E20A1E-38EE-6EDE-9916-66C9A1BA9B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57399" y="2033271"/>
                <a:ext cx="8077201" cy="461665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ja-JP" altLang="en-US"/>
                  <a:t>検索対象テキスト集合＝</a:t>
                </a:r>
                <a:r>
                  <a:rPr lang="en-US" altLang="ja-JP" dirty="0"/>
                  <a:t>{                         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ja-JP" dirty="0"/>
                  <a:t>            }</a:t>
                </a:r>
                <a:endParaRPr lang="ja-JP" altLang="en-US"/>
              </a:p>
            </p:txBody>
          </p:sp>
        </mc:Choice>
        <mc:Fallback>
          <p:sp>
            <p:nvSpPr>
              <p:cNvPr id="23" name="テキスト プレースホルダー 4">
                <a:extLst>
                  <a:ext uri="{FF2B5EF4-FFF2-40B4-BE49-F238E27FC236}">
                    <a16:creationId xmlns:a16="http://schemas.microsoft.com/office/drawing/2014/main" id="{D0E20A1E-38EE-6EDE-9916-66C9A1BA9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399" y="2033271"/>
                <a:ext cx="8077201" cy="461665"/>
              </a:xfrm>
              <a:prstGeom prst="rect">
                <a:avLst/>
              </a:prstGeom>
              <a:blipFill>
                <a:blip r:embed="rId2"/>
                <a:stretch>
                  <a:fillRect l="-1097" t="-8108" b="-297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角丸四角形 24">
            <a:extLst>
              <a:ext uri="{FF2B5EF4-FFF2-40B4-BE49-F238E27FC236}">
                <a16:creationId xmlns:a16="http://schemas.microsoft.com/office/drawing/2014/main" id="{7D1FB9DB-DEB0-682F-3F19-4B791D98E723}"/>
              </a:ext>
            </a:extLst>
          </p:cNvPr>
          <p:cNvSpPr/>
          <p:nvPr/>
        </p:nvSpPr>
        <p:spPr>
          <a:xfrm>
            <a:off x="5813853" y="2084931"/>
            <a:ext cx="1089454" cy="358346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1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6" name="角丸四角形 25">
            <a:extLst>
              <a:ext uri="{FF2B5EF4-FFF2-40B4-BE49-F238E27FC236}">
                <a16:creationId xmlns:a16="http://schemas.microsoft.com/office/drawing/2014/main" id="{C522E274-C85C-0FBC-B3B1-679AD8B95F59}"/>
              </a:ext>
            </a:extLst>
          </p:cNvPr>
          <p:cNvSpPr/>
          <p:nvPr/>
        </p:nvSpPr>
        <p:spPr>
          <a:xfrm>
            <a:off x="7011429" y="2084931"/>
            <a:ext cx="1089454" cy="358346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2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00990960-1709-1038-4C72-76AAF9394B5F}"/>
              </a:ext>
            </a:extLst>
          </p:cNvPr>
          <p:cNvSpPr/>
          <p:nvPr/>
        </p:nvSpPr>
        <p:spPr>
          <a:xfrm>
            <a:off x="8622956" y="2084931"/>
            <a:ext cx="1089454" cy="358346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n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角丸四角形 27">
            <a:extLst>
              <a:ext uri="{FF2B5EF4-FFF2-40B4-BE49-F238E27FC236}">
                <a16:creationId xmlns:a16="http://schemas.microsoft.com/office/drawing/2014/main" id="{9DCD468A-F26B-B397-AAEB-8238669A89FD}"/>
              </a:ext>
            </a:extLst>
          </p:cNvPr>
          <p:cNvSpPr/>
          <p:nvPr/>
        </p:nvSpPr>
        <p:spPr>
          <a:xfrm>
            <a:off x="1490018" y="2700280"/>
            <a:ext cx="1089454" cy="35834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Query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テキスト プレースホルダー 4">
                <a:extLst>
                  <a:ext uri="{FF2B5EF4-FFF2-40B4-BE49-F238E27FC236}">
                    <a16:creationId xmlns:a16="http://schemas.microsoft.com/office/drawing/2014/main" id="{2EB2441C-FA1F-7D01-6205-953374AE18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9471" y="2648620"/>
                <a:ext cx="8418043" cy="461665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ja-JP" altLang="en-US"/>
                  <a:t>に対する正解テキスト集合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ja-JP" dirty="0"/>
                  <a:t>={            </a:t>
                </a:r>
                <a:r>
                  <a:rPr lang="ja-JP" altLang="en-US"/>
                  <a:t>　　　　　　　　</a:t>
                </a:r>
                <a:r>
                  <a:rPr lang="en-US" altLang="ja-JP" dirty="0"/>
                  <a:t>}</a:t>
                </a:r>
                <a:endParaRPr lang="ja-JP" altLang="en-US"/>
              </a:p>
            </p:txBody>
          </p:sp>
        </mc:Choice>
        <mc:Fallback>
          <p:sp>
            <p:nvSpPr>
              <p:cNvPr id="29" name="テキスト プレースホルダー 4">
                <a:extLst>
                  <a:ext uri="{FF2B5EF4-FFF2-40B4-BE49-F238E27FC236}">
                    <a16:creationId xmlns:a16="http://schemas.microsoft.com/office/drawing/2014/main" id="{2EB2441C-FA1F-7D01-6205-953374AE1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471" y="2648620"/>
                <a:ext cx="8418043" cy="461665"/>
              </a:xfrm>
              <a:prstGeom prst="rect">
                <a:avLst/>
              </a:prstGeom>
              <a:blipFill>
                <a:blip r:embed="rId3"/>
                <a:stretch>
                  <a:fillRect l="-1207" t="-8108" b="-297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A7DC8AC4-DEA7-3887-22F2-FBAF5141BAD8}"/>
              </a:ext>
            </a:extLst>
          </p:cNvPr>
          <p:cNvSpPr/>
          <p:nvPr/>
        </p:nvSpPr>
        <p:spPr>
          <a:xfrm>
            <a:off x="7013487" y="2700280"/>
            <a:ext cx="1089454" cy="358346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2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角丸四角形 31">
            <a:extLst>
              <a:ext uri="{FF2B5EF4-FFF2-40B4-BE49-F238E27FC236}">
                <a16:creationId xmlns:a16="http://schemas.microsoft.com/office/drawing/2014/main" id="{25358B94-D370-A2A0-293F-333CCC668D51}"/>
              </a:ext>
            </a:extLst>
          </p:cNvPr>
          <p:cNvSpPr/>
          <p:nvPr/>
        </p:nvSpPr>
        <p:spPr>
          <a:xfrm>
            <a:off x="2767913" y="4004348"/>
            <a:ext cx="1089454" cy="358346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2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4984D66F-CDB5-3EF8-FC15-A023EA3DFFDB}"/>
              </a:ext>
            </a:extLst>
          </p:cNvPr>
          <p:cNvSpPr/>
          <p:nvPr/>
        </p:nvSpPr>
        <p:spPr>
          <a:xfrm>
            <a:off x="2767912" y="4884393"/>
            <a:ext cx="1089454" cy="358346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3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" name="角丸四角形 33">
            <a:extLst>
              <a:ext uri="{FF2B5EF4-FFF2-40B4-BE49-F238E27FC236}">
                <a16:creationId xmlns:a16="http://schemas.microsoft.com/office/drawing/2014/main" id="{6002FA84-6B14-60BC-394B-5CB2198C575E}"/>
              </a:ext>
            </a:extLst>
          </p:cNvPr>
          <p:cNvSpPr/>
          <p:nvPr/>
        </p:nvSpPr>
        <p:spPr>
          <a:xfrm>
            <a:off x="2767912" y="4444370"/>
            <a:ext cx="1089454" cy="358346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1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角丸四角形 34">
            <a:extLst>
              <a:ext uri="{FF2B5EF4-FFF2-40B4-BE49-F238E27FC236}">
                <a16:creationId xmlns:a16="http://schemas.microsoft.com/office/drawing/2014/main" id="{68CEC1B4-B9C9-3747-7218-AFFEF0C713F4}"/>
              </a:ext>
            </a:extLst>
          </p:cNvPr>
          <p:cNvSpPr/>
          <p:nvPr/>
        </p:nvSpPr>
        <p:spPr>
          <a:xfrm>
            <a:off x="2767912" y="5324416"/>
            <a:ext cx="1089454" cy="358346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4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角丸四角形 35">
            <a:extLst>
              <a:ext uri="{FF2B5EF4-FFF2-40B4-BE49-F238E27FC236}">
                <a16:creationId xmlns:a16="http://schemas.microsoft.com/office/drawing/2014/main" id="{602FA2C6-C271-3548-5D32-D27668C052F4}"/>
              </a:ext>
            </a:extLst>
          </p:cNvPr>
          <p:cNvSpPr/>
          <p:nvPr/>
        </p:nvSpPr>
        <p:spPr>
          <a:xfrm>
            <a:off x="2767912" y="5764439"/>
            <a:ext cx="1089454" cy="358346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5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テキスト プレースホルダー 4">
                <a:extLst>
                  <a:ext uri="{FF2B5EF4-FFF2-40B4-BE49-F238E27FC236}">
                    <a16:creationId xmlns:a16="http://schemas.microsoft.com/office/drawing/2014/main" id="{B834A1E7-0D6E-5225-48F8-5C2C9C5C2B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12987" y="6212756"/>
                <a:ext cx="599304" cy="461665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37" name="テキスト プレースホルダー 4">
                <a:extLst>
                  <a:ext uri="{FF2B5EF4-FFF2-40B4-BE49-F238E27FC236}">
                    <a16:creationId xmlns:a16="http://schemas.microsoft.com/office/drawing/2014/main" id="{B834A1E7-0D6E-5225-48F8-5C2C9C5C2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987" y="6212756"/>
                <a:ext cx="59930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テキスト プレースホルダー 4">
            <a:extLst>
              <a:ext uri="{FF2B5EF4-FFF2-40B4-BE49-F238E27FC236}">
                <a16:creationId xmlns:a16="http://schemas.microsoft.com/office/drawing/2014/main" id="{0AF25393-649F-0A87-5977-1E666330284E}"/>
              </a:ext>
            </a:extLst>
          </p:cNvPr>
          <p:cNvSpPr txBox="1">
            <a:spLocks/>
          </p:cNvSpPr>
          <p:nvPr/>
        </p:nvSpPr>
        <p:spPr>
          <a:xfrm>
            <a:off x="1797905" y="3952688"/>
            <a:ext cx="599304" cy="461665"/>
          </a:xfrm>
          <a:prstGeom prst="rect">
            <a:avLst/>
          </a:prstGeom>
        </p:spPr>
        <p:txBody>
          <a:bodyPr vert="horz" wrap="square" lIns="9000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dirty="0"/>
              <a:t>1</a:t>
            </a:r>
            <a:endParaRPr lang="ja-JP" altLang="en-US"/>
          </a:p>
        </p:txBody>
      </p:sp>
      <p:sp>
        <p:nvSpPr>
          <p:cNvPr id="39" name="テキスト プレースホルダー 4">
            <a:extLst>
              <a:ext uri="{FF2B5EF4-FFF2-40B4-BE49-F238E27FC236}">
                <a16:creationId xmlns:a16="http://schemas.microsoft.com/office/drawing/2014/main" id="{B6AB3D9E-5DE8-06CD-2F01-001E6BB0CAE7}"/>
              </a:ext>
            </a:extLst>
          </p:cNvPr>
          <p:cNvSpPr txBox="1">
            <a:spLocks/>
          </p:cNvSpPr>
          <p:nvPr/>
        </p:nvSpPr>
        <p:spPr>
          <a:xfrm>
            <a:off x="1797905" y="4391300"/>
            <a:ext cx="599304" cy="461665"/>
          </a:xfrm>
          <a:prstGeom prst="rect">
            <a:avLst/>
          </a:prstGeom>
        </p:spPr>
        <p:txBody>
          <a:bodyPr vert="horz" wrap="square" lIns="9000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dirty="0"/>
              <a:t>2</a:t>
            </a:r>
            <a:endParaRPr lang="ja-JP" altLang="en-US"/>
          </a:p>
        </p:txBody>
      </p:sp>
      <p:sp>
        <p:nvSpPr>
          <p:cNvPr id="40" name="テキスト プレースホルダー 4">
            <a:extLst>
              <a:ext uri="{FF2B5EF4-FFF2-40B4-BE49-F238E27FC236}">
                <a16:creationId xmlns:a16="http://schemas.microsoft.com/office/drawing/2014/main" id="{AE8E9A65-A760-26D8-10C4-8F3E0A7A3A4D}"/>
              </a:ext>
            </a:extLst>
          </p:cNvPr>
          <p:cNvSpPr txBox="1">
            <a:spLocks/>
          </p:cNvSpPr>
          <p:nvPr/>
        </p:nvSpPr>
        <p:spPr>
          <a:xfrm>
            <a:off x="1797905" y="4832733"/>
            <a:ext cx="599304" cy="461665"/>
          </a:xfrm>
          <a:prstGeom prst="rect">
            <a:avLst/>
          </a:prstGeom>
        </p:spPr>
        <p:txBody>
          <a:bodyPr vert="horz" wrap="square" lIns="9000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dirty="0"/>
              <a:t>3</a:t>
            </a:r>
            <a:endParaRPr lang="ja-JP" altLang="en-US"/>
          </a:p>
        </p:txBody>
      </p:sp>
      <p:sp>
        <p:nvSpPr>
          <p:cNvPr id="41" name="テキスト プレースホルダー 4">
            <a:extLst>
              <a:ext uri="{FF2B5EF4-FFF2-40B4-BE49-F238E27FC236}">
                <a16:creationId xmlns:a16="http://schemas.microsoft.com/office/drawing/2014/main" id="{8181A67E-A150-068A-E791-FADB68AC9C6D}"/>
              </a:ext>
            </a:extLst>
          </p:cNvPr>
          <p:cNvSpPr txBox="1">
            <a:spLocks/>
          </p:cNvSpPr>
          <p:nvPr/>
        </p:nvSpPr>
        <p:spPr>
          <a:xfrm>
            <a:off x="1797905" y="5272756"/>
            <a:ext cx="599304" cy="461665"/>
          </a:xfrm>
          <a:prstGeom prst="rect">
            <a:avLst/>
          </a:prstGeom>
        </p:spPr>
        <p:txBody>
          <a:bodyPr vert="horz" wrap="square" lIns="9000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dirty="0"/>
              <a:t>4</a:t>
            </a:r>
            <a:endParaRPr lang="ja-JP" altLang="en-US"/>
          </a:p>
        </p:txBody>
      </p:sp>
      <p:sp>
        <p:nvSpPr>
          <p:cNvPr id="42" name="テキスト プレースホルダー 4">
            <a:extLst>
              <a:ext uri="{FF2B5EF4-FFF2-40B4-BE49-F238E27FC236}">
                <a16:creationId xmlns:a16="http://schemas.microsoft.com/office/drawing/2014/main" id="{0BF29A12-81D4-FB7E-C6AD-0ABF7DDC47F4}"/>
              </a:ext>
            </a:extLst>
          </p:cNvPr>
          <p:cNvSpPr txBox="1">
            <a:spLocks/>
          </p:cNvSpPr>
          <p:nvPr/>
        </p:nvSpPr>
        <p:spPr>
          <a:xfrm>
            <a:off x="1797905" y="5710559"/>
            <a:ext cx="599304" cy="461665"/>
          </a:xfrm>
          <a:prstGeom prst="rect">
            <a:avLst/>
          </a:prstGeom>
        </p:spPr>
        <p:txBody>
          <a:bodyPr vert="horz" wrap="square" lIns="9000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dirty="0"/>
              <a:t>5</a:t>
            </a:r>
            <a:endParaRPr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テキスト プレースホルダー 4">
                <a:extLst>
                  <a:ext uri="{FF2B5EF4-FFF2-40B4-BE49-F238E27FC236}">
                    <a16:creationId xmlns:a16="http://schemas.microsoft.com/office/drawing/2014/main" id="{BBEF4E34-F066-CDE5-3903-878C60B943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02023" y="6212366"/>
                <a:ext cx="599304" cy="461665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43" name="テキスト プレースホルダー 4">
                <a:extLst>
                  <a:ext uri="{FF2B5EF4-FFF2-40B4-BE49-F238E27FC236}">
                    <a16:creationId xmlns:a16="http://schemas.microsoft.com/office/drawing/2014/main" id="{BBEF4E34-F066-CDE5-3903-878C60B94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023" y="6212366"/>
                <a:ext cx="59930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テキスト プレースホルダー 4">
                <a:extLst>
                  <a:ext uri="{FF2B5EF4-FFF2-40B4-BE49-F238E27FC236}">
                    <a16:creationId xmlns:a16="http://schemas.microsoft.com/office/drawing/2014/main" id="{8E24FFC5-B7E1-79B7-ECE4-2B25FC8D72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7346" y="3509844"/>
                <a:ext cx="2329253" cy="461665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ja-JP" altLang="en-US"/>
                  <a:t>検索結果集合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ja-JP" altLang="en-US"/>
              </a:p>
            </p:txBody>
          </p:sp>
        </mc:Choice>
        <mc:Fallback>
          <p:sp>
            <p:nvSpPr>
              <p:cNvPr id="44" name="テキスト プレースホルダー 4">
                <a:extLst>
                  <a:ext uri="{FF2B5EF4-FFF2-40B4-BE49-F238E27FC236}">
                    <a16:creationId xmlns:a16="http://schemas.microsoft.com/office/drawing/2014/main" id="{8E24FFC5-B7E1-79B7-ECE4-2B25FC8D7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346" y="3509844"/>
                <a:ext cx="2329253" cy="461665"/>
              </a:xfrm>
              <a:prstGeom prst="rect">
                <a:avLst/>
              </a:prstGeom>
              <a:blipFill>
                <a:blip r:embed="rId6"/>
                <a:stretch>
                  <a:fillRect l="-1630" t="-8108" b="-297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右矢印 45">
            <a:extLst>
              <a:ext uri="{FF2B5EF4-FFF2-40B4-BE49-F238E27FC236}">
                <a16:creationId xmlns:a16="http://schemas.microsoft.com/office/drawing/2014/main" id="{88563422-EED1-FCF9-43E9-BF2CD59F7014}"/>
              </a:ext>
            </a:extLst>
          </p:cNvPr>
          <p:cNvSpPr/>
          <p:nvPr/>
        </p:nvSpPr>
        <p:spPr>
          <a:xfrm>
            <a:off x="4670854" y="4726203"/>
            <a:ext cx="739346" cy="6506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テキスト プレースホルダー 4">
                <a:extLst>
                  <a:ext uri="{FF2B5EF4-FFF2-40B4-BE49-F238E27FC236}">
                    <a16:creationId xmlns:a16="http://schemas.microsoft.com/office/drawing/2014/main" id="{AB35DB9E-648F-5069-F966-4D00188057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92849" y="3259907"/>
                <a:ext cx="5710147" cy="1027717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𝐿𝑅𝐴𝑃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                   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=0.806</m:t>
                      </m:r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47" name="テキスト プレースホルダー 4">
                <a:extLst>
                  <a:ext uri="{FF2B5EF4-FFF2-40B4-BE49-F238E27FC236}">
                    <a16:creationId xmlns:a16="http://schemas.microsoft.com/office/drawing/2014/main" id="{AB35DB9E-648F-5069-F966-4D0018805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49" y="3259907"/>
                <a:ext cx="5710147" cy="1027717"/>
              </a:xfrm>
              <a:prstGeom prst="rect">
                <a:avLst/>
              </a:prstGeom>
              <a:blipFill>
                <a:blip r:embed="rId7"/>
                <a:stretch>
                  <a:fillRect l="-444" b="-48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角丸四角形 47">
            <a:extLst>
              <a:ext uri="{FF2B5EF4-FFF2-40B4-BE49-F238E27FC236}">
                <a16:creationId xmlns:a16="http://schemas.microsoft.com/office/drawing/2014/main" id="{C513AF99-9DF6-B142-683D-7BE57AB89902}"/>
              </a:ext>
            </a:extLst>
          </p:cNvPr>
          <p:cNvSpPr/>
          <p:nvPr/>
        </p:nvSpPr>
        <p:spPr>
          <a:xfrm>
            <a:off x="6903308" y="3769703"/>
            <a:ext cx="1089454" cy="35834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Query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テキスト プレースホルダー 4">
                <a:extLst>
                  <a:ext uri="{FF2B5EF4-FFF2-40B4-BE49-F238E27FC236}">
                    <a16:creationId xmlns:a16="http://schemas.microsoft.com/office/drawing/2014/main" id="{69D99C20-E1B1-0266-CDBE-BD9384471C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62484" y="4273735"/>
                <a:ext cx="6299151" cy="1459887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𝐿𝑅𝐴𝑃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                   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den>
                              </m:f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/>
                                <m:e>
                                  <m:f>
                                    <m:f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𝑛𝑢𝑚</m:t>
                                      </m:r>
                                      <m:d>
                                        <m:d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𝑟𝑎𝑛𝑘</m:t>
                                      </m:r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den>
                                  </m:f>
                                </m:e>
                              </m:nary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⊂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0  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51" name="テキスト プレースホルダー 4">
                <a:extLst>
                  <a:ext uri="{FF2B5EF4-FFF2-40B4-BE49-F238E27FC236}">
                    <a16:creationId xmlns:a16="http://schemas.microsoft.com/office/drawing/2014/main" id="{69D99C20-E1B1-0266-CDBE-BD9384471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484" y="4273735"/>
                <a:ext cx="6299151" cy="1459887"/>
              </a:xfrm>
              <a:prstGeom prst="rect">
                <a:avLst/>
              </a:prstGeom>
              <a:blipFill>
                <a:blip r:embed="rId8"/>
                <a:stretch>
                  <a:fillRect l="-201" t="-215517" b="-30775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角丸四角形 51">
            <a:extLst>
              <a:ext uri="{FF2B5EF4-FFF2-40B4-BE49-F238E27FC236}">
                <a16:creationId xmlns:a16="http://schemas.microsoft.com/office/drawing/2014/main" id="{4D4EBC86-9A12-80CF-C301-30CBD1CBCA9C}"/>
              </a:ext>
            </a:extLst>
          </p:cNvPr>
          <p:cNvSpPr/>
          <p:nvPr/>
        </p:nvSpPr>
        <p:spPr>
          <a:xfrm>
            <a:off x="6698392" y="4823745"/>
            <a:ext cx="1089454" cy="35834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Query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7D7302E6-F700-AAF5-36E1-1FDB1BAA5013}"/>
              </a:ext>
            </a:extLst>
          </p:cNvPr>
          <p:cNvSpPr/>
          <p:nvPr/>
        </p:nvSpPr>
        <p:spPr>
          <a:xfrm>
            <a:off x="8199816" y="2700279"/>
            <a:ext cx="1089454" cy="358346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3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D6DE219F-FECD-41C9-7777-F86E6CD7C0E2}"/>
              </a:ext>
            </a:extLst>
          </p:cNvPr>
          <p:cNvSpPr/>
          <p:nvPr/>
        </p:nvSpPr>
        <p:spPr>
          <a:xfrm>
            <a:off x="9386145" y="2700279"/>
            <a:ext cx="1089454" cy="358346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t</a:t>
            </a:r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ext 4</a:t>
            </a:r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テキスト プレースホルダー 4">
                <a:extLst>
                  <a:ext uri="{FF2B5EF4-FFF2-40B4-BE49-F238E27FC236}">
                    <a16:creationId xmlns:a16="http://schemas.microsoft.com/office/drawing/2014/main" id="{077FF5DD-FFFE-6645-0E3C-59742BF196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84289" y="5811358"/>
                <a:ext cx="7077333" cy="959237"/>
              </a:xfrm>
              <a:prstGeom prst="rect">
                <a:avLst/>
              </a:prstGeom>
            </p:spPr>
            <p:txBody>
              <a:bodyPr vert="horz" wrap="square" lIns="9000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kumimoji="1" sz="2400" kern="1200">
                    <a:solidFill>
                      <a:schemeClr val="tx1"/>
                    </a:solidFill>
                    <a:latin typeface="Meiryo" panose="020B0604030504040204" pitchFamily="34" charset="-128"/>
                    <a:ea typeface="Meiryo" panose="020B0604030504040204" pitchFamily="34" charset="-128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dirty="0"/>
                  <a:t>：</a:t>
                </a:r>
                <a:r>
                  <a:rPr lang="ja-JP" altLang="en-US"/>
                  <a:t>検索結果テキスト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ja-JP" altLang="en-US"/>
                  <a:t>の順位</a:t>
                </a:r>
                <a:endParaRPr lang="en-US" altLang="ja-JP" dirty="0"/>
              </a:p>
              <a:p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𝑛𝑢𝑚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dirty="0"/>
                  <a:t>：検索</a:t>
                </a:r>
                <a:r>
                  <a:rPr lang="ja-JP" altLang="en-US"/>
                  <a:t>結果テキスト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ja-JP" altLang="en-US"/>
                  <a:t>以上の正解テキスト数</a:t>
                </a:r>
                <a:endParaRPr lang="en-US" altLang="ja-JP" dirty="0"/>
              </a:p>
            </p:txBody>
          </p:sp>
        </mc:Choice>
        <mc:Fallback>
          <p:sp>
            <p:nvSpPr>
              <p:cNvPr id="9" name="テキスト プレースホルダー 4">
                <a:extLst>
                  <a:ext uri="{FF2B5EF4-FFF2-40B4-BE49-F238E27FC236}">
                    <a16:creationId xmlns:a16="http://schemas.microsoft.com/office/drawing/2014/main" id="{077FF5DD-FFFE-6645-0E3C-59742BF19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289" y="5811358"/>
                <a:ext cx="7077333" cy="959237"/>
              </a:xfrm>
              <a:prstGeom prst="rect">
                <a:avLst/>
              </a:prstGeom>
              <a:blipFill>
                <a:blip r:embed="rId9"/>
                <a:stretch>
                  <a:fillRect l="-358" t="-3896" r="-896" b="-1298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1163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306</Words>
  <Application>Microsoft Macintosh PowerPoint</Application>
  <PresentationFormat>ワイド画面</PresentationFormat>
  <Paragraphs>96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Meiryo</vt:lpstr>
      <vt:lpstr>游ゴシック</vt:lpstr>
      <vt:lpstr>Arial</vt:lpstr>
      <vt:lpstr>Cambria Math</vt:lpstr>
      <vt:lpstr>Office テーマ</vt:lpstr>
      <vt:lpstr>発表</vt:lpstr>
      <vt:lpstr>使用データ：JaQuAD</vt:lpstr>
      <vt:lpstr>Coverage</vt:lpstr>
      <vt:lpstr>MRR (Mean Reciprocal Rank)</vt:lpstr>
      <vt:lpstr>LRAP (Label Ranking Average Precision)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田中 瞬</dc:creator>
  <cp:lastModifiedBy>田中 瞬</cp:lastModifiedBy>
  <cp:revision>16</cp:revision>
  <dcterms:created xsi:type="dcterms:W3CDTF">2025-11-13T08:07:58Z</dcterms:created>
  <dcterms:modified xsi:type="dcterms:W3CDTF">2025-11-13T16:33:24Z</dcterms:modified>
</cp:coreProperties>
</file>